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>
      <p:cViewPr varScale="1">
        <p:scale>
          <a:sx n="78" d="100"/>
          <a:sy n="78" d="100"/>
        </p:scale>
        <p:origin x="940" y="-1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Executive framing: this deck translates Tasks 1–3 into a high-level operating concept.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Task 1/2 basis: 500 customers, 19 variables, 16.0% delinquency; candidate predictors include Credit Utilization, DTI, Credit Score, Income and Loan Balance.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Task 2/3 basis: interpretable Logistic Regression baseline, threshold-based prioritization, human-reviewed interventions; 6-week pilot targeting a 10% relative reduction in 30-day delinquency.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Responsible AI: fairness, explainability, compliance/privacy, and human oversight.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Impact: use the 10% relative reduction as the pilot target—not a guaranteed outcome.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controlled deployment sequence: validate → pilot → measure → govern.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" y="6395561"/>
            <a:ext cx="9144000" cy="502920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8484"/>
                </a:solidFill>
                <a:latin typeface="Aptos Display"/>
              </a:rPr>
              <a:t>GELDIUM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162B46"/>
                </a:solidFill>
                <a:latin typeface="Aptos Display"/>
              </a:rPr>
              <a:t>AI-Powered
Collections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99232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D3741"/>
                </a:solidFill>
                <a:latin typeface="Aptos"/>
              </a:rPr>
              <a:t>A high-level concept for scalable, fair and responsible
agentic collections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4160520"/>
            <a:ext cx="502920" cy="502920"/>
          </a:xfrm>
          <a:prstGeom prst="ellipse">
            <a:avLst/>
          </a:prstGeom>
          <a:solidFill>
            <a:srgbClr val="26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965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B46"/>
                </a:solidFill>
                <a:latin typeface="Aptos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70832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7D"/>
                </a:solidFill>
                <a:latin typeface="Aptos"/>
              </a:rPr>
              <a:t>Customer &amp; repayment signals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4407408"/>
            <a:ext cx="301752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70632" y="4160520"/>
            <a:ext cx="502920" cy="502920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0965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B46"/>
                </a:solidFill>
                <a:latin typeface="Apto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370832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7D"/>
                </a:solidFill>
                <a:latin typeface="Aptos"/>
              </a:rPr>
              <a:t>Risk score + business 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62272" y="4407408"/>
            <a:ext cx="301752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28032" y="4160520"/>
            <a:ext cx="502920" cy="502920"/>
          </a:xfrm>
          <a:prstGeom prst="ellipse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965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B46"/>
                </a:solidFill>
                <a:latin typeface="Aptos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70832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7D"/>
                </a:solidFill>
                <a:latin typeface="Aptos"/>
              </a:rPr>
              <a:t>Targeted, approved outreach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19672" y="4407408"/>
            <a:ext cx="301752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885432" y="4160520"/>
            <a:ext cx="502920" cy="502920"/>
          </a:xfrm>
          <a:prstGeom prst="ellipse">
            <a:avLst/>
          </a:prstGeom>
          <a:solidFill>
            <a:srgbClr val="3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0965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B46"/>
                </a:solidFill>
                <a:latin typeface="Aptos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370832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7D"/>
                </a:solidFill>
                <a:latin typeface="Aptos"/>
              </a:rPr>
              <a:t>Outcomes +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05272"/>
            <a:ext cx="3657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Executive </a:t>
            </a:r>
            <a:r>
              <a:rPr sz="16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briefing</a:t>
            </a:r>
            <a:r>
              <a:rPr sz="12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| Task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605272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From predictive insight → governed automation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>
        <p15:prstTrans prst="curtains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2B46"/>
                </a:solidFill>
                <a:latin typeface="Aptos Display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7223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8484"/>
                </a:solidFill>
                <a:latin typeface="Aptos"/>
              </a:rPr>
              <a:t>FOUR-PART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9737D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914400" cy="41148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1874519" cy="3383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1709928"/>
            <a:ext cx="438912" cy="438912"/>
          </a:xfrm>
          <a:prstGeom prst="ellipse">
            <a:avLst/>
          </a:prstGeom>
          <a:solidFill>
            <a:srgbClr val="26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5D96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79192"/>
            <a:ext cx="15727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D3741"/>
                </a:solidFill>
                <a:latin typeface="Aptos"/>
              </a:rPr>
              <a:t>Customer profile, repayment history,
Missed_Payments, Credit_Utilization,
DTI, Credit_Score, Income &amp; Loan_Balance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172968"/>
            <a:ext cx="201168" cy="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15768" y="1508760"/>
            <a:ext cx="1874519" cy="3383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62072" y="1709928"/>
            <a:ext cx="438912" cy="438912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267712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4E91"/>
                </a:solidFill>
                <a:latin typeface="Aptos"/>
              </a:rPr>
              <a:t>DECISION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679192"/>
            <a:ext cx="15727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D3741"/>
                </a:solidFill>
                <a:latin typeface="Aptos"/>
              </a:rPr>
              <a:t>Interpretable delinquency probability
+ business rules + operating threshold.
Prioritize; do not auto-adversely act.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3172968"/>
            <a:ext cx="201168" cy="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64608" y="1508760"/>
            <a:ext cx="1874519" cy="3383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10912" y="1709928"/>
            <a:ext cx="438912" cy="438912"/>
          </a:xfrm>
          <a:prstGeom prst="ellipse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267712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8484"/>
                </a:solidFill>
                <a:latin typeface="Aptos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679192"/>
            <a:ext cx="15727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D3741"/>
                </a:solidFill>
                <a:latin typeface="Aptos"/>
              </a:rPr>
              <a:t>Low-risk: reminders
Higher-risk: targeted early outreach
Critical/hardship cases: human 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3172968"/>
            <a:ext cx="201168" cy="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13448" y="1508760"/>
            <a:ext cx="1874519" cy="3383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59752" y="1709928"/>
            <a:ext cx="438912" cy="438912"/>
          </a:xfrm>
          <a:prstGeom prst="ellipse">
            <a:avLst/>
          </a:prstGeom>
          <a:solidFill>
            <a:srgbClr val="3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267712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25A"/>
                </a:solidFill>
                <a:latin typeface="Aptos"/>
              </a:rPr>
              <a:t>LEARNING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679192"/>
            <a:ext cx="15727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D3741"/>
                </a:solidFill>
                <a:latin typeface="Aptos"/>
              </a:rPr>
              <a:t>Track contact, cure and delinquency outcomes;
monitor calibration, fairness and stability;
recalibrate with governance.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257800"/>
            <a:ext cx="7589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43153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2B46"/>
                </a:solidFill>
                <a:latin typeface="Aptos"/>
              </a:rPr>
              <a:t>Operating principle: </a:t>
            </a:r>
            <a:r>
              <a:rPr sz="1200" b="0">
                <a:solidFill>
                  <a:srgbClr val="2D3741"/>
                </a:solidFill>
                <a:latin typeface="Aptos"/>
              </a:rPr>
              <a:t>Use model output to prioritize appropriate, human-reviewed interventions—not as an automatic adverse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27064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 | TASK 4 | AI-POWERED COLLECTIONS STRATEGY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>
        <p15:prstTrans prst="fracture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2B46"/>
                </a:solidFill>
                <a:latin typeface="Aptos Display"/>
              </a:rPr>
              <a:t>Role of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7223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8484"/>
                </a:solidFill>
                <a:latin typeface="Aptos"/>
              </a:rPr>
              <a:t>AUTONOMY WITH HUMAN CONTROL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9737D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914400" cy="41148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7909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1"/>
                </a:solidFill>
                <a:latin typeface="Aptos"/>
              </a:rPr>
              <a:t>Agentic AI can coordinate repetitive workflows at scale, while consequential customer-impact decisions remain governed by people.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057400"/>
            <a:ext cx="3703320" cy="3520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2057400"/>
            <a:ext cx="3703320" cy="3520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8484"/>
                </a:solidFill>
                <a:latin typeface="Aptos"/>
              </a:rPr>
              <a:t>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3317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74E91"/>
                </a:solidFill>
                <a:latin typeface="Aptos"/>
              </a:rPr>
              <a:t>HUMAN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20" b="1" dirty="0">
                <a:solidFill>
                  <a:srgbClr val="238484"/>
                </a:solidFill>
                <a:latin typeface="Aptos"/>
              </a:rPr>
              <a:t>• </a:t>
            </a:r>
            <a:r>
              <a:rPr sz="1220" dirty="0">
                <a:solidFill>
                  <a:srgbClr val="2D3741"/>
                </a:solidFill>
                <a:latin typeface="Aptos"/>
              </a:rPr>
              <a:t>Ingest and validate routine data feeds</a:t>
            </a:r>
          </a:p>
          <a:p>
            <a:pPr>
              <a:spcAft>
                <a:spcPts val="600"/>
              </a:spcAft>
            </a:pPr>
            <a:r>
              <a:rPr sz="1220" b="1" dirty="0">
                <a:solidFill>
                  <a:srgbClr val="238484"/>
                </a:solidFill>
                <a:latin typeface="Aptos"/>
              </a:rPr>
              <a:t>• </a:t>
            </a:r>
            <a:r>
              <a:rPr sz="1220" dirty="0">
                <a:solidFill>
                  <a:srgbClr val="2D3741"/>
                </a:solidFill>
                <a:latin typeface="Aptos"/>
              </a:rPr>
              <a:t>Score customers and assign risk priority</a:t>
            </a:r>
          </a:p>
          <a:p>
            <a:pPr>
              <a:spcAft>
                <a:spcPts val="600"/>
              </a:spcAft>
            </a:pPr>
            <a:r>
              <a:rPr sz="1220" b="1" dirty="0">
                <a:solidFill>
                  <a:srgbClr val="238484"/>
                </a:solidFill>
                <a:latin typeface="Aptos"/>
              </a:rPr>
              <a:t>• </a:t>
            </a:r>
            <a:r>
              <a:rPr sz="1220" dirty="0">
                <a:solidFill>
                  <a:srgbClr val="2D3741"/>
                </a:solidFill>
                <a:latin typeface="Aptos"/>
              </a:rPr>
              <a:t>Trigger approved reminders and follow-ups</a:t>
            </a:r>
          </a:p>
          <a:p>
            <a:pPr>
              <a:spcAft>
                <a:spcPts val="600"/>
              </a:spcAft>
            </a:pPr>
            <a:r>
              <a:rPr sz="1220" b="1" dirty="0">
                <a:solidFill>
                  <a:srgbClr val="238484"/>
                </a:solidFill>
                <a:latin typeface="Aptos"/>
              </a:rPr>
              <a:t>• </a:t>
            </a:r>
            <a:r>
              <a:rPr sz="1220" dirty="0">
                <a:solidFill>
                  <a:srgbClr val="2D3741"/>
                </a:solidFill>
                <a:latin typeface="Aptos"/>
              </a:rPr>
              <a:t>Route cases to the right workflow</a:t>
            </a:r>
          </a:p>
          <a:p>
            <a:pPr>
              <a:spcAft>
                <a:spcPts val="600"/>
              </a:spcAft>
            </a:pPr>
            <a:r>
              <a:rPr sz="1220" b="1" dirty="0">
                <a:solidFill>
                  <a:srgbClr val="238484"/>
                </a:solidFill>
                <a:latin typeface="Aptos"/>
              </a:rPr>
              <a:t>• </a:t>
            </a:r>
            <a:r>
              <a:rPr sz="1220" dirty="0">
                <a:solidFill>
                  <a:srgbClr val="2D3741"/>
                </a:solidFill>
                <a:latin typeface="Aptos"/>
              </a:rPr>
              <a:t>Log outcomes and surface exceptions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788920"/>
            <a:ext cx="3154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20" b="1">
                <a:solidFill>
                  <a:srgbClr val="674E91"/>
                </a:solidFill>
                <a:latin typeface="Aptos"/>
              </a:rPr>
              <a:t>• </a:t>
            </a:r>
            <a:r>
              <a:rPr sz="1220">
                <a:solidFill>
                  <a:srgbClr val="2D3741"/>
                </a:solidFill>
                <a:latin typeface="Aptos"/>
              </a:rPr>
              <a:t>Approve hardship or personalized plans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674E91"/>
                </a:solidFill>
                <a:latin typeface="Aptos"/>
              </a:rPr>
              <a:t>• </a:t>
            </a:r>
            <a:r>
              <a:rPr sz="1220">
                <a:solidFill>
                  <a:srgbClr val="2D3741"/>
                </a:solidFill>
                <a:latin typeface="Aptos"/>
              </a:rPr>
              <a:t>Review borderline / high-impact cases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674E91"/>
                </a:solidFill>
                <a:latin typeface="Aptos"/>
              </a:rPr>
              <a:t>• </a:t>
            </a:r>
            <a:r>
              <a:rPr sz="1220">
                <a:solidFill>
                  <a:srgbClr val="2D3741"/>
                </a:solidFill>
                <a:latin typeface="Aptos"/>
              </a:rPr>
              <a:t>Handle complaints, disputes and exceptions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674E91"/>
                </a:solidFill>
                <a:latin typeface="Aptos"/>
              </a:rPr>
              <a:t>• </a:t>
            </a:r>
            <a:r>
              <a:rPr sz="1220">
                <a:solidFill>
                  <a:srgbClr val="2D3741"/>
                </a:solidFill>
                <a:latin typeface="Aptos"/>
              </a:rPr>
              <a:t>Review fairness, drift and threshold changes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674E91"/>
                </a:solidFill>
                <a:latin typeface="Aptos"/>
              </a:rPr>
              <a:t>• </a:t>
            </a:r>
            <a:r>
              <a:rPr sz="1220">
                <a:solidFill>
                  <a:srgbClr val="2D3741"/>
                </a:solidFill>
                <a:latin typeface="Aptos"/>
              </a:rPr>
              <a:t>Approve material policy or model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68" y="5760720"/>
            <a:ext cx="84734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Guardrail: automation executes only within pre-approved policies, thresholds and communication templates.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5451" y="6037719"/>
            <a:ext cx="5040957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</a:t>
            </a:r>
            <a:r>
              <a:rPr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| TASK 4 | AI-POWERED COLLECTIONS STRATEGY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>
        <p15:prstTrans prst="origami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1" y="146304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62B46"/>
                </a:solidFill>
                <a:latin typeface="Aptos Display"/>
              </a:rPr>
              <a:t>Responsible AI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653796"/>
            <a:ext cx="7223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8484"/>
                </a:solidFill>
                <a:latin typeface="Aptos"/>
              </a:rPr>
              <a:t>FAIRNESS, EXPLAINABILITY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9737D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594360" y="1069849"/>
            <a:ext cx="818388" cy="45719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348269"/>
            <a:ext cx="7818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Rounded Rectangle 6"/>
          <p:cNvSpPr/>
          <p:nvPr/>
        </p:nvSpPr>
        <p:spPr>
          <a:xfrm>
            <a:off x="658368" y="1316914"/>
            <a:ext cx="1491452" cy="883529"/>
          </a:xfrm>
          <a:prstGeom prst="roundRect">
            <a:avLst/>
          </a:prstGeom>
          <a:solidFill>
            <a:srgbClr val="265D96"/>
          </a:solidFill>
          <a:ln w="12700">
            <a:solidFill>
              <a:srgbClr val="26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76" y="1636783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731" y="1517865"/>
            <a:ext cx="56692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 dirty="0">
                <a:solidFill>
                  <a:srgbClr val="2D3741"/>
                </a:solidFill>
                <a:latin typeface="Aptos"/>
              </a:rPr>
              <a:t>Test error rates and calibration across relevant customer groups; do not use descriptive segment differences as automatic grounds for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87721"/>
            <a:ext cx="7818120" cy="889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2220847"/>
            <a:ext cx="1508760" cy="941832"/>
          </a:xfrm>
          <a:prstGeom prst="roundRect">
            <a:avLst/>
          </a:prstGeom>
          <a:solidFill>
            <a:srgbClr val="674E91"/>
          </a:solidFill>
          <a:ln w="12700">
            <a:solidFill>
              <a:srgbClr val="67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730" y="2610168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1731" y="2510221"/>
            <a:ext cx="56692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 dirty="0">
                <a:solidFill>
                  <a:srgbClr val="2D3741"/>
                </a:solidFill>
                <a:latin typeface="Aptos"/>
              </a:rPr>
              <a:t>Use interpretable model outputs and plain-language reasons for prioritization; document features, thresholds and limitations.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88030"/>
            <a:ext cx="7818120" cy="85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3227460"/>
            <a:ext cx="1508760" cy="889542"/>
          </a:xfrm>
          <a:prstGeom prst="roundRect">
            <a:avLst/>
          </a:prstGeom>
          <a:solidFill>
            <a:srgbClr val="238484"/>
          </a:solidFill>
          <a:ln w="12700">
            <a:solidFill>
              <a:srgbClr val="23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76" y="3534678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COMPLIANCE +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1731" y="3447321"/>
            <a:ext cx="56692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 dirty="0">
                <a:solidFill>
                  <a:srgbClr val="2D3741"/>
                </a:solidFill>
                <a:latin typeface="Aptos"/>
              </a:rPr>
              <a:t>Apply applicable financial, privacy and consumer-protection requirements; minimize unnecessary customer data in AI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98443"/>
            <a:ext cx="78181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4202704"/>
            <a:ext cx="1499617" cy="889542"/>
          </a:xfrm>
          <a:prstGeom prst="roundRect">
            <a:avLst/>
          </a:prstGeom>
          <a:solidFill>
            <a:srgbClr val="37825A"/>
          </a:solidFill>
          <a:ln w="1270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77730" y="448424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HUMAN OVERSIGHT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1731" y="4448556"/>
            <a:ext cx="56692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 dirty="0">
                <a:solidFill>
                  <a:srgbClr val="2D3741"/>
                </a:solidFill>
                <a:latin typeface="Aptos"/>
              </a:rPr>
              <a:t>Require review for consequential actions, hardship cases and exceptions; maintain audit logs and clear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6144768"/>
            <a:ext cx="7223760" cy="3474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6217920"/>
            <a:ext cx="68580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Monitor continuously: performance • calibration • fairness • drift • complaints • overrides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0942" y="5899161"/>
            <a:ext cx="7589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 | TASK 4 | AI-POWERED COLLECTIONS STRATEGY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>
        <p15:prstTrans prst="crush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2B46"/>
                </a:solidFill>
                <a:latin typeface="Aptos Display"/>
              </a:rP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7223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8484"/>
                </a:solidFill>
                <a:latin typeface="Aptos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9737D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914400" cy="41148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487168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09344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38484"/>
                </a:solidFill>
                <a:latin typeface="Aptos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031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2D3741"/>
                </a:solidFill>
                <a:latin typeface="Aptos"/>
              </a:rPr>
              <a:t>Target relative reduction
in 30-day delinquency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87168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3592" y="1609344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65D96"/>
                </a:solidFill>
                <a:latin typeface="Aptos"/>
              </a:rPr>
              <a:t>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031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2D3741"/>
                </a:solidFill>
                <a:latin typeface="Aptos"/>
              </a:rPr>
              <a:t>Pilot duration
for controlled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487168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09344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74E91"/>
                </a:solidFill>
                <a:latin typeface="Aptos"/>
              </a:rPr>
              <a:t>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031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" b="0">
                <a:solidFill>
                  <a:srgbClr val="2D3741"/>
                </a:solidFill>
                <a:latin typeface="Aptos"/>
              </a:rPr>
              <a:t>Current delinquency prevalence
in supplied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0632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2B46"/>
                </a:solidFill>
                <a:latin typeface="Aptos"/>
              </a:rPr>
              <a:t>BUSINESS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56432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30" b="1">
                <a:solidFill>
                  <a:srgbClr val="238484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30-day delinquency rate and cure rate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238484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Contact / response / escalation rates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238484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Collections productivity and cost per cured account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238484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Model precision, calibration and 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0632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2B46"/>
                </a:solidFill>
                <a:latin typeface="Aptos"/>
              </a:rPr>
              <a:t>CUSTOMER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456432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30" b="1">
                <a:solidFill>
                  <a:srgbClr val="674E91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Earlier, more relevant support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674E91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Consistent treatment across customers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674E91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Human review for hardship and exceptions</a:t>
            </a:r>
          </a:p>
          <a:p>
            <a:pPr>
              <a:spcAft>
                <a:spcPts val="500"/>
              </a:spcAft>
            </a:pPr>
            <a:r>
              <a:rPr sz="1130" b="1">
                <a:solidFill>
                  <a:srgbClr val="674E91"/>
                </a:solidFill>
                <a:latin typeface="Aptos"/>
              </a:rPr>
              <a:t>• </a:t>
            </a:r>
            <a:r>
              <a:rPr sz="1130">
                <a:solidFill>
                  <a:srgbClr val="2D3741"/>
                </a:solidFill>
                <a:latin typeface="Aptos"/>
              </a:rPr>
              <a:t>Clearer, more transparent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70448"/>
            <a:ext cx="7315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38484"/>
                </a:solidFill>
                <a:latin typeface="Aptos"/>
              </a:rPr>
              <a:t>Success = lower delinquency without sacrificing fairness, transparency or customer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27064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 | TASK 4 | AI-POWERED COLLECTIONS STRATEGY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omb/>
      </p:transition>
    </mc:Choice>
    <mc:Fallback>
      <p:transition>
        <p:comb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2B46"/>
                </a:solidFill>
                <a:latin typeface="Aptos Display"/>
              </a:rPr>
              <a:t>Executive Takeaway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7223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8484"/>
                </a:solidFill>
                <a:latin typeface="Aptos"/>
              </a:rPr>
              <a:t>FROM CONCEPT TO CONTROLLED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9737D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914400" cy="41148"/>
          </a:xfrm>
          <a:prstGeom prst="rect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25295" y="1508760"/>
            <a:ext cx="566928" cy="566928"/>
          </a:xfrm>
          <a:prstGeom prst="ellipse">
            <a:avLst/>
          </a:prstGeom>
          <a:solidFill>
            <a:srgbClr val="26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5856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B46"/>
                </a:solidFill>
                <a:latin typeface="Aptos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724912"/>
            <a:ext cx="1920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D3741"/>
                </a:solidFill>
                <a:latin typeface="Aptos"/>
              </a:rPr>
              <a:t>Confirm data quality, model performance,
calibration and fairness on representative data.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1792224"/>
            <a:ext cx="182880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4136" y="1508760"/>
            <a:ext cx="566928" cy="566928"/>
          </a:xfrm>
          <a:prstGeom prst="ellipse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25856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B46"/>
                </a:solidFill>
                <a:latin typeface="Aptos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724912"/>
            <a:ext cx="1920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D3741"/>
                </a:solidFill>
                <a:latin typeface="Aptos"/>
              </a:rPr>
              <a:t>Run the 6-week targeted outreach pilot
with a defined threshold and human review.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54296" y="1792224"/>
            <a:ext cx="182880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522976" y="1508760"/>
            <a:ext cx="566928" cy="566928"/>
          </a:xfrm>
          <a:prstGeom prst="ellipse">
            <a:avLst/>
          </a:prstGeom>
          <a:solidFill>
            <a:srgbClr val="23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25856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B46"/>
                </a:solidFill>
                <a:latin typeface="Aptos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724912"/>
            <a:ext cx="1920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D3741"/>
                </a:solidFill>
                <a:latin typeface="Aptos"/>
              </a:rPr>
              <a:t>Compare delinquency, cure, customer and
operational KPIs against baseline/control.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03136" y="1792224"/>
            <a:ext cx="182880" cy="0"/>
          </a:xfrm>
          <a:prstGeom prst="line">
            <a:avLst/>
          </a:prstGeom>
          <a:ln w="25400">
            <a:solidFill>
              <a:srgbClr val="DD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671816" y="1508760"/>
            <a:ext cx="566928" cy="566928"/>
          </a:xfrm>
          <a:prstGeom prst="ellipse">
            <a:avLst/>
          </a:prstGeom>
          <a:solidFill>
            <a:srgbClr val="3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25856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2B46"/>
                </a:solidFill>
                <a:latin typeface="Aptos"/>
              </a:rP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724912"/>
            <a:ext cx="1920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D3741"/>
                </a:solidFill>
                <a:latin typeface="Aptos"/>
              </a:rPr>
              <a:t>Scale only if outcomes meet business,
fairness, compliance and governance 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18736"/>
            <a:ext cx="7589520" cy="1143000"/>
          </a:xfrm>
          <a:prstGeom prst="roundRect">
            <a:avLst/>
          </a:prstGeom>
          <a:solidFill>
            <a:srgbClr val="162B46"/>
          </a:solidFill>
          <a:ln w="12700"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5769" y="4187726"/>
            <a:ext cx="185290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7DDCD2"/>
                </a:solidFill>
                <a:latin typeface="Aptos"/>
              </a:rPr>
              <a:t>Recommendation</a:t>
            </a:r>
            <a:endParaRPr b="1" dirty="0">
              <a:solidFill>
                <a:srgbClr val="7DDCD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75788" y="4070196"/>
            <a:ext cx="5440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Build toward governed autonomy: let AI prioritize and coordinate routine collections, while people retain control over consequential customer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Source basis: </a:t>
            </a:r>
            <a:r>
              <a:rPr sz="900" b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</a:t>
            </a:r>
            <a:r>
              <a:rPr sz="9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Task 1 EDA + Task 2 Predictive Model Plan + Task 3 Business Summary Report.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227064"/>
            <a:ext cx="75895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GELDIUM | TASK 4 | AI-POWERED COLLECTIONS STRATEGY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775</Words>
  <Application>Microsoft Office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 Display</vt:lpstr>
      <vt:lpstr>Roboto</vt:lpstr>
      <vt:lpstr>Arial</vt:lpstr>
      <vt:lpstr>Roboto Slab</vt:lpstr>
      <vt:lpstr>Aptos</vt:lpstr>
      <vt:lpstr>Marina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Sangram keshari Mohapatra</cp:lastModifiedBy>
  <cp:revision>9</cp:revision>
  <dcterms:modified xsi:type="dcterms:W3CDTF">2026-09-14T16:38:14Z</dcterms:modified>
</cp:coreProperties>
</file>